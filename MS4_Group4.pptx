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Inter Light"/>
      <p:regular r:id="rId30"/>
      <p:bold r:id="rId31"/>
      <p:italic r:id="rId32"/>
      <p:boldItalic r:id="rId33"/>
    </p:embeddedFont>
    <p:embeddedFont>
      <p:font typeface="Inter SemiBold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Inter ExtraBold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italic.fntdata"/><Relationship Id="rId20" Type="http://schemas.openxmlformats.org/officeDocument/2006/relationships/slide" Target="slides/slide15.xml"/><Relationship Id="rId42" Type="http://schemas.openxmlformats.org/officeDocument/2006/relationships/font" Target="fonts/InterExtraBold-bold.fntdata"/><Relationship Id="rId41" Type="http://schemas.openxmlformats.org/officeDocument/2006/relationships/font" Target="fonts/Inter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InterExtraBold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Light-bold.fntdata"/><Relationship Id="rId30" Type="http://schemas.openxmlformats.org/officeDocument/2006/relationships/font" Target="fonts/InterLight-regular.fntdata"/><Relationship Id="rId11" Type="http://schemas.openxmlformats.org/officeDocument/2006/relationships/slide" Target="slides/slide6.xml"/><Relationship Id="rId33" Type="http://schemas.openxmlformats.org/officeDocument/2006/relationships/font" Target="fonts/Inter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Light-italic.fntdata"/><Relationship Id="rId13" Type="http://schemas.openxmlformats.org/officeDocument/2006/relationships/slide" Target="slides/slide8.xml"/><Relationship Id="rId35" Type="http://schemas.openxmlformats.org/officeDocument/2006/relationships/font" Target="fonts/InterSemiBold-bold.fntdata"/><Relationship Id="rId12" Type="http://schemas.openxmlformats.org/officeDocument/2006/relationships/slide" Target="slides/slide7.xml"/><Relationship Id="rId34" Type="http://schemas.openxmlformats.org/officeDocument/2006/relationships/font" Target="fonts/Inter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Inter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Inter-bold.fntdata"/><Relationship Id="rId16" Type="http://schemas.openxmlformats.org/officeDocument/2006/relationships/slide" Target="slides/slide11.xml"/><Relationship Id="rId38" Type="http://schemas.openxmlformats.org/officeDocument/2006/relationships/font" Target="fonts/Inter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11e81982f_9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11e81982f_9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11e81982f_9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11e81982f_9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11e81982f_9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11e81982f_9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11e81982f_9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11e81982f_9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11e81982f_9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11e81982f_9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11e8198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11e8198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1e81982f_9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11e81982f_9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11e81982f_9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11e81982f_9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11e81982f_9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11e81982f_9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11e81982f_9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11e81982f_9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11e81982f_9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11e81982f_9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1e81982f_9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11e81982f_9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11e81982f_9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11e81982f_9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11e81982f_9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11e81982f_9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11e81982f_9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11e81982f_9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11e81982f_9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11e81982f_9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11e81982f_9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11e81982f_9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11e81982f_9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11e81982f_9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11e81982f_9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11e81982f_9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11e81982f_9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11e81982f_9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11e81982f_9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11e81982f_9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11e81982f_9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11e81982f_9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11e81982f_9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11e81982f_9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25575" y="748550"/>
            <a:ext cx="6491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40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Emotion Recognition</a:t>
            </a:r>
            <a:endParaRPr b="0" sz="4440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from Facial Images</a:t>
            </a:r>
            <a:endParaRPr b="0" sz="296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25575" y="2828925"/>
            <a:ext cx="47625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Daniel Wei, Enogayin Imasuen, Suffian Haroon</a:t>
            </a:r>
            <a:endParaRPr b="0" i="1" sz="1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GROUP 4 | May 2026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25575" y="3649125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EDA, </a:t>
            </a:r>
            <a:r>
              <a:rPr b="0" lang="en" sz="1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Baseline Modeling, Pipeline Development a</a:t>
            </a:r>
            <a:r>
              <a:rPr lang="en" sz="16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nd Conclusion</a:t>
            </a:r>
            <a:endParaRPr b="0" sz="16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128004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Introduction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28004" y="760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Facial Expression Recognition (FER) from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low-resolution FER-2013 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"Does transfer learning improve facial emotion classification performance over a baseline CNN on a low-resolution and class-imbalanced facial emotion dataset?"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35,887 images (28K train / 7K test)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5450" y="1760863"/>
            <a:ext cx="3618824" cy="301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1300" y="1710961"/>
            <a:ext cx="2512250" cy="1014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1900" y="2771380"/>
            <a:ext cx="2491049" cy="99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7650" y="3810675"/>
            <a:ext cx="1001125" cy="99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2300" y="2197850"/>
            <a:ext cx="2146125" cy="214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128004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EDA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28004" y="760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Pixel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Statistics - </a:t>
            </a: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similar brightness and contrast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975" y="1478000"/>
            <a:ext cx="8367375" cy="307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128004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EDA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28004" y="760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Face Composite per Emotion Class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6" title="mean_faces.png"/>
          <p:cNvPicPr preferRelativeResize="0"/>
          <p:nvPr/>
        </p:nvPicPr>
        <p:blipFill rotWithShape="1">
          <a:blip r:embed="rId4">
            <a:alphaModFix/>
          </a:blip>
          <a:srcRect b="0" l="0" r="0" t="4012"/>
          <a:stretch/>
        </p:blipFill>
        <p:spPr>
          <a:xfrm>
            <a:off x="474850" y="1378925"/>
            <a:ext cx="7826898" cy="327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128004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EDA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28004" y="760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FFT Spectrum - emotions share nearly identical frequency structure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00" y="1218175"/>
            <a:ext cx="8019799" cy="36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/>
        </p:nvSpPr>
        <p:spPr>
          <a:xfrm>
            <a:off x="128004" y="18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EDA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128004" y="599816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Quality - duplication and noise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375" y="1048627"/>
            <a:ext cx="7834373" cy="127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375" y="2334887"/>
            <a:ext cx="7834374" cy="13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375" y="3646144"/>
            <a:ext cx="7791374" cy="13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CNN - </a:t>
            </a:r>
            <a:r>
              <a:rPr lang="en" sz="2800">
                <a:solidFill>
                  <a:schemeClr val="dk1"/>
                </a:solidFill>
              </a:rPr>
              <a:t>Baseline Model Selection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CNN architectures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study effect of model capacity on FER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125" y="1117825"/>
            <a:ext cx="4167876" cy="35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274" y="15172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CNN Ablation Study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9725" y="1044250"/>
            <a:ext cx="6329351" cy="395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CNN Ablation Study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 Macro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9750" y="1044250"/>
            <a:ext cx="6387075" cy="391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CNN Ablation Study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Recall Macro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96650"/>
            <a:ext cx="4162049" cy="321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6849" y="1196650"/>
            <a:ext cx="4524752" cy="324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CNN Ablation Study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03575"/>
            <a:ext cx="8839198" cy="373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CNN Ablation Study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Class-wife F1 score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350" y="1044250"/>
            <a:ext cx="8520601" cy="3716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CNN Ablation Study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Grad-Cam I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nterpretation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 rotWithShape="1">
          <a:blip r:embed="rId4">
            <a:alphaModFix/>
          </a:blip>
          <a:srcRect b="49042" l="0" r="0" t="0"/>
          <a:stretch/>
        </p:blipFill>
        <p:spPr>
          <a:xfrm>
            <a:off x="414650" y="1103475"/>
            <a:ext cx="3764149" cy="193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 rotWithShape="1">
          <a:blip r:embed="rId5">
            <a:alphaModFix/>
          </a:blip>
          <a:srcRect b="0" l="0" r="0" t="50288"/>
          <a:stretch/>
        </p:blipFill>
        <p:spPr>
          <a:xfrm>
            <a:off x="4466575" y="1103475"/>
            <a:ext cx="3824575" cy="18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 rotWithShape="1">
          <a:blip r:embed="rId6">
            <a:alphaModFix/>
          </a:blip>
          <a:srcRect b="49300" l="0" r="0" t="0"/>
          <a:stretch/>
        </p:blipFill>
        <p:spPr>
          <a:xfrm>
            <a:off x="414650" y="3180975"/>
            <a:ext cx="3764151" cy="17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CNN Ablation Study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Grad-Cam Interpretation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6"/>
          <p:cNvPicPr preferRelativeResize="0"/>
          <p:nvPr/>
        </p:nvPicPr>
        <p:blipFill rotWithShape="1">
          <a:blip r:embed="rId4">
            <a:alphaModFix/>
          </a:blip>
          <a:srcRect b="0" l="0" r="0" t="50734"/>
          <a:stretch/>
        </p:blipFill>
        <p:spPr>
          <a:xfrm>
            <a:off x="465430" y="1128853"/>
            <a:ext cx="3764149" cy="186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 rotWithShape="1">
          <a:blip r:embed="rId5">
            <a:alphaModFix/>
          </a:blip>
          <a:srcRect b="49264" l="0" r="0" t="0"/>
          <a:stretch/>
        </p:blipFill>
        <p:spPr>
          <a:xfrm>
            <a:off x="407662" y="2998200"/>
            <a:ext cx="3824575" cy="192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6042" y="1128854"/>
            <a:ext cx="3794451" cy="379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Classical Interpolation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 rotWithShape="1">
          <a:blip r:embed="rId4">
            <a:alphaModFix/>
          </a:blip>
          <a:srcRect b="0" l="7553" r="0" t="0"/>
          <a:stretch/>
        </p:blipFill>
        <p:spPr>
          <a:xfrm>
            <a:off x="651400" y="1044250"/>
            <a:ext cx="7976428" cy="37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CNN vs ResNet-50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Interpolation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975" y="1213550"/>
            <a:ext cx="7926748" cy="29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Interpolation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F-1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75" y="1196650"/>
            <a:ext cx="8248223" cy="305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Augmentation Experimentation - CNN vs Resnet-50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825" y="1205100"/>
            <a:ext cx="8268252" cy="280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Experimentation - ResNet-50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463" y="1145775"/>
            <a:ext cx="6982980" cy="37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00" name="Google Shape;200;p32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Hyperparameter Sensitivity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13" y="1213550"/>
            <a:ext cx="8128174" cy="22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07" name="Google Shape;207;p33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 Tuning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Depth Study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675" y="1213575"/>
            <a:ext cx="8053652" cy="31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14" name="Google Shape;214;p34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Grad-Cam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9175" y="1044250"/>
            <a:ext cx="4650341" cy="37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21" name="Google Shape;221;p35"/>
          <p:cNvSpPr txBox="1"/>
          <p:nvPr/>
        </p:nvSpPr>
        <p:spPr>
          <a:xfrm>
            <a:off x="255400" y="674950"/>
            <a:ext cx="535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475" y="1196650"/>
            <a:ext cx="8104776" cy="322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/>
        </p:nvSpPr>
        <p:spPr>
          <a:xfrm>
            <a:off x="218650" y="157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Transfer Learning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28" name="Google Shape;228;p36"/>
          <p:cNvSpPr txBox="1"/>
          <p:nvPr/>
        </p:nvSpPr>
        <p:spPr>
          <a:xfrm>
            <a:off x="255400" y="674950"/>
            <a:ext cx="5356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6"/>
          <p:cNvSpPr txBox="1"/>
          <p:nvPr/>
        </p:nvSpPr>
        <p:spPr>
          <a:xfrm>
            <a:off x="699350" y="1018500"/>
            <a:ext cx="78702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Transfer learning (ResNet-50, 70% accuracy) outperforms custom CNNs trained from scratch (60%).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Model architecture is the main performance driver; scaling/interpolation methods impact F1 score by only 1–3%.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Baseline augmentation (flip/rotation) yields the largest gains; complex geometric methods show diminishing returns.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Focal Loss provides the most stable performance boost for minority classes (Disgust, Fear).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Partial fine-tuning (last 1–2 blocks) prevents overfitting on noisy, high-variance datasets.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Grad-CAM confirms the model focuses on key facial features (eyes/mouth), not background noise.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